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Matriculados</c:v>
                </c:pt>
              </c:strCache>
            </c:strRef>
          </c:tx>
          <c:spPr>
            <a:solidFill>
              <a:srgbClr val="E174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CDMX</c:v>
                  </c:pt>
                  <c:pt idx="1">
                    <c:v>Querétaro</c:v>
                  </c:pt>
                  <c:pt idx="2">
                    <c:v>Ciudad de México</c:v>
                  </c:pt>
                  <c:pt idx="3">
                    <c:v>Álvaro Obregón</c:v>
                  </c:pt>
                  <c:pt idx="4">
                    <c:v>Huixquilucan</c:v>
                  </c:pt>
                  <c:pt idx="5">
                    <c:v>Guadalajara</c:v>
                  </c:pt>
                  <c:pt idx="6">
                    <c:v>Tijuana</c:v>
                  </c:pt>
                  <c:pt idx="7">
                    <c:v>Zapopan</c:v>
                  </c:pt>
                  <c:pt idx="8">
                    <c:v>San Luis Potosí</c:v>
                  </c:pt>
                  <c:pt idx="9">
                    <c:v>Tecomán</c:v>
                  </c:pt>
                  <c:pt idx="10">
                    <c:v>Benito Juárez</c:v>
                  </c:pt>
                  <c:pt idx="11">
                    <c:v>Puebla</c:v>
                  </c:pt>
                  <c:pt idx="12">
                    <c:v>Metepec</c:v>
                  </c:pt>
                  <c:pt idx="13">
                    <c:v>Toluca</c:v>
                  </c:pt>
                  <c:pt idx="14">
                    <c:v>Monterrey</c:v>
                  </c:pt>
                  <c:pt idx="15">
                    <c:v>Cuauhtémoc</c:v>
                  </c:pt>
                  <c:pt idx="16">
                    <c:v>Queretaro</c:v>
                  </c:pt>
                  <c:pt idx="17">
                    <c:v>San Jose del Cabo</c:v>
                  </c:pt>
                  <c:pt idx="18">
                    <c:v>Oaxaca</c:v>
                  </c:pt>
                  <c:pt idx="19">
                    <c:v>Tlalpan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162</c:v>
                </c:pt>
                <c:pt idx="1">
                  <c:v>8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4059936" cy="109728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2926080"/>
            <a:ext cx="4069080" cy="10972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2926080"/>
            <a:ext cx="4059936" cy="109728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NODS</a:t>
            </a:r>
            <a:pPr algn="ctr" indent="0" marL="0">
              <a:buNone/>
            </a:pPr>
            <a:r>
              <a:rPr lang="en-US" sz="2200" dirty="0">
                <a:solidFill>
                  <a:srgbClr val="C9CED8"/>
                </a:solidFill>
              </a:rPr>
              <a:t>   |   +a educação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Universidad Anáhuac México · GMP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ED8"/>
                </a:solidFill>
              </a:rPr>
              <a:t>Reporte al 24 ago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73152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0"/>
            <a:ext cx="40690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0"/>
            <a:ext cx="4059936" cy="73152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164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</a:rPr>
              <a:t>NODS</a:t>
            </a:r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  |  +a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6"/>
                </a:solidFill>
              </a:rPr>
              <a:t>Funnel de conversión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858000" cy="658368"/>
          </a:xfrm>
          <a:prstGeom prst="roundRect">
            <a:avLst>
              <a:gd name="adj" fmla="val 8333"/>
            </a:avLst>
          </a:prstGeom>
          <a:solidFill>
            <a:srgbClr val="E174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Leads totales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29.175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2601" y="2304288"/>
            <a:ext cx="2350079" cy="658368"/>
          </a:xfrm>
          <a:prstGeom prst="roundRect">
            <a:avLst>
              <a:gd name="adj" fmla="val 8333"/>
            </a:avLst>
          </a:prstGeom>
          <a:solidFill>
            <a:srgbClr val="E1743F"/>
          </a:solidFill>
          <a:ln/>
        </p:spPr>
      </p:sp>
      <p:sp>
        <p:nvSpPr>
          <p:cNvPr id="10" name="Text 8"/>
          <p:cNvSpPr/>
          <p:nvPr/>
        </p:nvSpPr>
        <p:spPr>
          <a:xfrm>
            <a:off x="2802601" y="2304288"/>
            <a:ext cx="235007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No útiles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003" y="3145536"/>
            <a:ext cx="6685275" cy="658368"/>
          </a:xfrm>
          <a:prstGeom prst="roundRect">
            <a:avLst>
              <a:gd name="adj" fmla="val 8333"/>
            </a:avLst>
          </a:prstGeom>
          <a:solidFill>
            <a:srgbClr val="E1743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003" y="3145536"/>
            <a:ext cx="66852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En gestión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28.173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59534" y="3986784"/>
            <a:ext cx="1836212" cy="658368"/>
          </a:xfrm>
          <a:prstGeom prst="roundRect">
            <a:avLst>
              <a:gd name="adj" fmla="val 8333"/>
            </a:avLst>
          </a:prstGeom>
          <a:solidFill>
            <a:srgbClr val="E1743F"/>
          </a:solidFill>
          <a:ln/>
        </p:spPr>
      </p:sp>
      <p:sp>
        <p:nvSpPr>
          <p:cNvPr id="14" name="Text 12"/>
          <p:cNvSpPr/>
          <p:nvPr/>
        </p:nvSpPr>
        <p:spPr>
          <a:xfrm>
            <a:off x="3059534" y="3986784"/>
            <a:ext cx="18362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Potenciales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42985" y="4828032"/>
            <a:ext cx="1869309" cy="658368"/>
          </a:xfrm>
          <a:prstGeom prst="roundRect">
            <a:avLst>
              <a:gd name="adj" fmla="val 8333"/>
            </a:avLst>
          </a:prstGeom>
          <a:solidFill>
            <a:srgbClr val="E1743F"/>
          </a:solidFill>
          <a:ln/>
        </p:spPr>
      </p:sp>
      <p:sp>
        <p:nvSpPr>
          <p:cNvPr id="16" name="Text 14"/>
          <p:cNvSpPr/>
          <p:nvPr/>
        </p:nvSpPr>
        <p:spPr>
          <a:xfrm>
            <a:off x="3042985" y="4828032"/>
            <a:ext cx="186930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Matriculados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1371600"/>
            <a:ext cx="1737360" cy="365760"/>
          </a:xfrm>
          <a:prstGeom prst="rect">
            <a:avLst/>
          </a:prstGeom>
          <a:solidFill>
            <a:srgbClr val="E174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Másters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783080"/>
          <a:ext cx="1737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Leads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18.980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Contacto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95,36%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Potenciales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Matriculados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0149840" y="1371600"/>
            <a:ext cx="1737360" cy="365760"/>
          </a:xfrm>
          <a:prstGeom prst="rect">
            <a:avLst/>
          </a:prstGeom>
          <a:solidFill>
            <a:srgbClr val="E174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Diplomados</a:t>
            </a:r>
            <a:endParaRPr lang="en-US" sz="1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0" y="1783080"/>
          <a:ext cx="1737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Leads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10.117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Contacto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98,79%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Potenciales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</a:rPr>
                        <a:t>Matriculados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73152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0"/>
            <a:ext cx="40690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0"/>
            <a:ext cx="4059936" cy="73152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164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</a:rPr>
              <a:t>NODS</a:t>
            </a:r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  |  +a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6"/>
                </a:solidFill>
              </a:rPr>
              <a:t>Detalle por programa — Másters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188720"/>
                <a:gridCol w="1005840"/>
                <a:gridCol w="1188720"/>
                <a:gridCol w="1280160"/>
                <a:gridCol w="822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Programa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Gestionados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 útil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Potenciales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Matriculados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Master-Inteligencia Artificial y Negocios: Estrategia, Innovación y Resultados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2560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2700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Master-Neurociencia, Psicología Positiva y Clinical Mindfulness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3239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354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3393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Master-TEA, TDAH e Inclusión: Salud, Familia y Sociedad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4015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403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4194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Master-Neurobranding y Neuromarketing: Estrategias de Engagement Sensorial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2265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2336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Master-Neurociencia Aplicada: Productividad y Rendimiento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1899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215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2008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Master-RR. HH. e IA: Gestión Humana Basada en Datos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1237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Master-Salud 4.0: Gestión, Tecnología e Innovación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1153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1185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Master-Customer Experience e IA: Transformando el Recorrido del Cliente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1378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1474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Master-RRHH e IA: Gestión humana basada en datos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432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18.100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1967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18.980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73152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0"/>
            <a:ext cx="40690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0"/>
            <a:ext cx="4059936" cy="73152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164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</a:rPr>
              <a:t>NODS</a:t>
            </a:r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  |  +a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6"/>
                </a:solidFill>
              </a:rPr>
              <a:t>Detalle por programa — Diplomados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188720"/>
                <a:gridCol w="1005840"/>
                <a:gridCol w="1188720"/>
                <a:gridCol w="1280160"/>
                <a:gridCol w="822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Programa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Gestionados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 útil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Potenciales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Matriculados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1743F"/>
                          </a:solidFill>
                        </a:rPr>
                        <a:t>2026 · C1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6F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Diplomado-Familia y Escuela: Aceptación y Crecimiento en la Neurodivergencia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2160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Diplomado-Fundamentos, Ética e Innovación en Inteligencia Artificial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Diplomado-Cerebro Creativo: Inspiración, Ética y Alto Desempeño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Diplomado-Neuroética e Inteligencia Emocional para Decisiones Estratégicas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1927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1928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Diplomado-Ética y Regulación Emocional en la Era Digital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788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788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Diplomado-Innovación y Transformación Digital en la Salud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1212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Diplomado-Neurociencia Aplicada al Liderazgo y los Negocios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Diplomado-Estrategias de Marketing Basadas en Neurociencia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Diplomado-Liderazgo Estratégico e Innovación en la Era de la 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Diplomado-Explorando la Neurodiversidad y los Trastornos del Neurodesarrollo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Diplomado-Gestión de Talento y Analítica Avanzada en Recursos Humanos con Inteligencia Artificial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Diplomado-Salud Emocional e Intervenciones Terapéuticas en la Neurodivergencia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 - Resiliencia y Bienestar: Estrategias Neurocientíficas para la Salud Emocional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 - Neurociencia y Comportamiento del Consumidor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Diplomado-Ética, Arte y Tecnología: Hacia una Salud Más Humana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Diplomado-Ética, Productos y Datos en la Transformación Digital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1743F"/>
                          </a:solidFill>
                        </a:rPr>
                        <a:t>2026 · C2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6F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Diplomado-Fundamentos, Ética e Innovación en Inteligencia Artificial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Diplomado-Neuroética e Inteligencia Emocional para Decisiones Estratégicas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73152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0"/>
            <a:ext cx="40690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0"/>
            <a:ext cx="4059936" cy="73152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164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</a:rPr>
              <a:t>NODS</a:t>
            </a:r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  |  +a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6"/>
                </a:solidFill>
              </a:rPr>
              <a:t>Detalle por programa — Diplomados (cont.)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188720"/>
                <a:gridCol w="1005840"/>
                <a:gridCol w="1188720"/>
                <a:gridCol w="1280160"/>
                <a:gridCol w="822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Programa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Gestionados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 útil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Potenciales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Matriculados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Diplomado-Estrategias de Marketing Basadas en Neurociencia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345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376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Diplomado-Explorando la Neurodiversidad y los Trastornos del Neurodesarrollo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636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688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Diplomado-Cerebro, Negocios y Decisiones Éticas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Diplomado-Ética, Arte y Tecnología: Hacia una Salud Más Humana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Diplomado-Neurociencia Aplicada al Liderazgo y los Negocios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Diplomado-Creatividad, Productividad y Estrategia en Recursos Humanos con Inteligencia Artificial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Diplomado-Customer intelligence y personalización con 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Diplomado-Datos, Ciencia de Datos y Soluciones Estratégicas con Inteligencia Artificial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Diplomado-Ética, Productos y Datos en la Transformación Digital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1743F"/>
                          </a:solidFill>
                        </a:rPr>
                        <a:t>2026 · C5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6F3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Diplomado-Neurociencia Aplicada al Liderazgo y los Negocios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9995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10.117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73152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0"/>
            <a:ext cx="40690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0"/>
            <a:ext cx="4059936" cy="73152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164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</a:rPr>
              <a:t>NODS</a:t>
            </a:r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  |  +a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6"/>
                </a:solidFill>
              </a:rPr>
              <a:t>Detalle por ciudad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112471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73152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0"/>
            <a:ext cx="40690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0"/>
            <a:ext cx="4059936" cy="73152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164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</a:rPr>
              <a:t>NODS</a:t>
            </a:r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  |  +a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6"/>
                </a:solidFill>
              </a:rPr>
              <a:t>Motivos de no compra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5778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Tipificación · Másters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Teléfono erróneo o fuera de servicio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27,18%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Le parece caro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833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18,71%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le interesa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517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11,62%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Siguiente cohorte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9,50%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Duplicado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272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6,11%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Dejo de responder Whatsapp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4,67%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Inscripto en otra universidad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3,95%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es la oferta buscada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3,53%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indica motivo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2,76%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Deja de responder - precio 20%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2,45%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Spam - Desconoce haber solicitado información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2,09%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Cierre de lead por no contacto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2,07%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Pide no ser llamado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1,39%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Modalidad de cursado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1,10%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posgrado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1,01%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maestría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0,72%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curso corto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0,54%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Deja de responder - precio 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0,38%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pregrado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0,20%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4451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100,00%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80160"/>
          <a:ext cx="55778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Tipificación · Diplomados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Leads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74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Teléfono erróneo o fuera de servicio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34,18%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Le parece caro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17,69%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Duplicado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9,57%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Siguiente cohorte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8,64%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le interesa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8,06%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Dejo de responder Whatsapp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3,90%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Cierre de lead por no contacto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2,91%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es la oferta buscada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2,55%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Inscripto en otra universidad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2,45%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 indica motivo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2,39%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Deja de responder - precio 20%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1,98%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Spam - Desconoce haber solicitado información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1,87%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Modalidad de cursado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1,35%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Pide no ser llamado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1,30%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posgrado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0,36%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Deja de responder - precio 25%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0,31%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maestría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0,26%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curso corto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0,16%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Busca pregrado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0,05%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1922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100,00%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5852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116"/>
                </a:solidFill>
              </a:rPr>
              <a:t>Ticket promedio</a:t>
            </a:r>
            <a:endParaRPr lang="en-US" sz="13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585216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Másters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$93.866,67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Diplomados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$34.240,91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$79.911,70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73152"/>
          </a:xfrm>
          <a:prstGeom prst="rect">
            <a:avLst/>
          </a:prstGeom>
          <a:solidFill>
            <a:srgbClr val="1946E3"/>
          </a:solidFill>
          <a:ln/>
        </p:spPr>
      </p:sp>
      <p:sp>
        <p:nvSpPr>
          <p:cNvPr id="3" name="Shape 1"/>
          <p:cNvSpPr/>
          <p:nvPr/>
        </p:nvSpPr>
        <p:spPr>
          <a:xfrm>
            <a:off x="4059936" y="0"/>
            <a:ext cx="406908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8129016" y="0"/>
            <a:ext cx="4059936" cy="73152"/>
          </a:xfrm>
          <a:prstGeom prst="rect">
            <a:avLst/>
          </a:prstGeom>
          <a:solidFill>
            <a:srgbClr val="12B3A6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164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1116"/>
                </a:solidFill>
              </a:rPr>
              <a:t>NODS</a:t>
            </a:r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  |  +a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6"/>
                </a:solidFill>
              </a:rPr>
              <a:t>Inversión y matrículas vs objetivo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</a:rPr>
              <a:t>29.175 / 11.792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743F"/>
                </a:solidFill>
              </a:rPr>
              <a:t>247% de la meta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Inversión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</a:rPr>
              <a:t>$71.065,72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743F"/>
                </a:solidFill>
              </a:rPr>
              <a:t>CPL $2,44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Matrículas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</a:rPr>
              <a:t>235 / 166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743F"/>
                </a:solidFill>
              </a:rPr>
              <a:t>142% de la meta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20116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12700">
            <a:solidFill>
              <a:srgbClr val="E7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Acumulado ciclo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</a:rPr>
              <a:t>235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2026-08-25T00:31:04Z</dcterms:created>
  <dcterms:modified xsi:type="dcterms:W3CDTF">2026-08-25T00:31:04Z</dcterms:modified>
</cp:coreProperties>
</file>